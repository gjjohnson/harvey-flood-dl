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charts/_rels/chart1.xml.rels><?xml version="1.0" encoding="UTF-8"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
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label 0</c:f>
              <c:strCache>
                <c:ptCount val="1"/>
                <c:pt idx="0">
                  <c:v>Peak forecast (ft)</c:v>
                </c:pt>
              </c:strCache>
            </c:strRef>
          </c:tx>
          <c:spPr>
            <a:solidFill>
              <a:srgbClr val="065A82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900" b="0" u="none" strike="noStrike">
                    <a:solidFill>
                      <a:srgbClr val="445566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Buffalo
Bayou</c:v>
                </c:pt>
                <c:pt idx="1">
                  <c:v>Brays
Bayou</c:v>
                </c:pt>
                <c:pt idx="2">
                  <c:v>Cypress
Creek</c:v>
                </c:pt>
                <c:pt idx="3">
                  <c:v>Addicks
Reservoir</c:v>
                </c:pt>
              </c:strCache>
            </c:strRef>
          </c:cat>
          <c:val>
            <c:numRef>
              <c:f>0</c:f>
              <c:numCache>
                <c:formatCode>General</c:formatCode>
                <c:ptCount val="4"/>
                <c:pt idx="0">
                  <c:v>36.2</c:v>
                </c:pt>
                <c:pt idx="1">
                  <c:v>42.5</c:v>
                </c:pt>
                <c:pt idx="2">
                  <c:v>100.9</c:v>
                </c:pt>
                <c:pt idx="3">
                  <c:v>85.5</c:v>
                </c:pt>
              </c:numCache>
            </c:numRef>
          </c:val>
        </c:ser>
        <c:ser>
          <c:idx val="1"/>
          <c:order val="1"/>
          <c:tx>
            <c:strRef>
              <c:f>label 1</c:f>
              <c:strCache>
                <c:ptCount val="1"/>
                <c:pt idx="0">
                  <c:v>Flood stage (ft)</c:v>
                </c:pt>
              </c:strCache>
            </c:strRef>
          </c:tx>
          <c:spPr>
            <a:solidFill>
              <a:srgbClr val="E08E45"/>
            </a:solidFill>
            <a:ln w="0">
              <a:noFill/>
            </a:ln>
          </c:spPr>
          <c:invertIfNegative val="0"/>
          <c:dLbls>
            <c:numFmt formatCode="#,##0" sourceLinked="0"/>
            <c:txPr>
              <a:bodyPr wrap="square"/>
              <a:lstStyle/>
              <a:p>
                <a:pPr>
                  <a:defRPr sz="900" b="0" u="none" strike="noStrike">
                    <a:solidFill>
                      <a:srgbClr val="445566"/>
                    </a:solidFill>
                    <a:uFillTx/>
                    <a:latin typeface="Arial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eparator>; </c:separator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categories</c:f>
              <c:strCache>
                <c:ptCount val="4"/>
                <c:pt idx="0">
                  <c:v>Buffalo
Bayou</c:v>
                </c:pt>
                <c:pt idx="1">
                  <c:v>Brays
Bayou</c:v>
                </c:pt>
                <c:pt idx="2">
                  <c:v>Cypress
Creek</c:v>
                </c:pt>
                <c:pt idx="3">
                  <c:v>Addicks
Reservoir</c:v>
                </c:pt>
              </c:strCache>
            </c:strRef>
          </c:cat>
          <c:val>
            <c:numRef>
              <c:f>1</c:f>
              <c:numCache>
                <c:formatCode>General</c:formatCode>
                <c:ptCount val="4"/>
                <c:pt idx="0">
                  <c:v>33</c:v>
                </c:pt>
                <c:pt idx="1">
                  <c:v>38</c:v>
                </c:pt>
                <c:pt idx="2">
                  <c:v>96</c:v>
                </c:pt>
                <c:pt idx="3">
                  <c:v>100</c:v>
                </c:pt>
              </c:numCache>
            </c:numRef>
          </c:val>
        </c:ser>
        <c:gapWidth val="150"/>
        <c:overlap val="0"/>
        <c:axId val="73770988"/>
        <c:axId val="41586372"/>
      </c:barChart>
      <c:catAx>
        <c:axId val="73770988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100" b="0" u="none" strike="noStrike">
                <a:solidFill>
                  <a:srgbClr val="445566"/>
                </a:solidFill>
                <a:uFillTx/>
                <a:latin typeface="Arial"/>
              </a:defRPr>
            </a:pPr>
          </a:p>
        </c:txPr>
        <c:crossAx val="41586372"/>
        <c:crosses val="autoZero"/>
        <c:auto val="1"/>
        <c:lblAlgn val="ctr"/>
        <c:lblOffset val="100"/>
        <c:noMultiLvlLbl val="0"/>
      </c:catAx>
      <c:valAx>
        <c:axId val="41586372"/>
        <c:scaling>
          <c:orientation val="minMax"/>
        </c:scaling>
        <c:delete val="0"/>
        <c:axPos val="l"/>
        <c:majorGridlines>
          <c:spPr>
            <a:ln w="6480">
              <a:solidFill>
                <a:srgbClr val="E2EAEC"/>
              </a:solidFill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600">
            <a:solidFill>
              <a:srgbClr val="888888"/>
            </a:solidFill>
            <a:round/>
          </a:ln>
        </c:spPr>
        <c:txPr>
          <a:bodyPr/>
          <a:lstStyle/>
          <a:p>
            <a:pPr>
              <a:defRPr sz="1000" b="0" u="none" strike="noStrike">
                <a:solidFill>
                  <a:srgbClr val="445566"/>
                </a:solidFill>
                <a:uFillTx/>
                <a:latin typeface="Arial"/>
              </a:defRPr>
            </a:pPr>
          </a:p>
        </c:txPr>
        <c:crossAx val="73770988"/>
        <c:crosses val="autoZero"/>
        <c:crossBetween val="between"/>
      </c:valAx>
      <c:spPr>
        <a:noFill/>
        <a:ln w="0">
          <a:noFill/>
        </a:ln>
      </c:spPr>
    </c:plotArea>
    <c:legend>
      <c:legendPos val="b"/>
      <c:overlay val="0"/>
      <c:spPr>
        <a:noFill/>
        <a:ln w="0">
          <a:noFill/>
        </a:ln>
      </c:spPr>
      <c:txPr>
        <a:bodyPr/>
        <a:lstStyle/>
        <a:p>
          <a:pPr>
            <a:defRPr sz="1100" b="0" u="none" strike="noStrike">
              <a:solidFill>
                <a:srgbClr val="445566"/>
              </a:solidFill>
              <a:uFillTx/>
              <a:latin typeface="Calibri"/>
            </a:defRPr>
          </a:pPr>
        </a:p>
      </c:txPr>
    </c:legend>
    <c:plotVisOnly val="1"/>
    <c:dispBlanksAs val="span"/>
  </c:chart>
  <c:spPr>
    <a:solidFill>
      <a:srgbClr val="FFFFFF"/>
    </a:solidFill>
    <a:ln w="0">
      <a:noFill/>
    </a:ln>
  </c:spPr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/>
  </cs:axisTitle>
  <cs:categoryAxis>
    <cs:lnRef idx="0"/>
    <cs:fillRef idx="0"/>
    <cs:effectRef idx="0"/>
    <cs:fontRef idx="minor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chartArea>
  <cs:dataLabel>
    <cs:lnRef idx="0"/>
    <cs:fillRef idx="0"/>
    <cs:effectRef idx="0"/>
    <cs:fontRef idx="minor"/>
  </cs:dataLabel>
  <cs:dataPoint>
    <cs:lnRef idx="0"/>
    <cs:fillRef idx="0">
      <cs:styleClr val="auto"/>
    </cs:fillRef>
    <cs:effectRef idx="0"/>
    <cs:fontRef idx="minor">
      <cs:schemeClr val="tx1"/>
    </cs:fontRef>
    <cs:spPr>
      <a:solidFill>
        <a:schemeClr val="phClr"/>
      </a:solidFill>
    </cs:spPr>
  </cs:dataPoint>
  <cs:dataPoint3D>
    <cs:lnRef idx="0"/>
    <cs:fillRef idx="0"/>
    <cs:effectRef idx="0"/>
    <cs:fontRef idx="minor"/>
  </cs:dataPoint3D>
  <cs:dataPointLine>
    <cs:lnRef idx="0"/>
    <cs:fillRef idx="0"/>
    <cs:effectRef idx="0"/>
    <cs:fontRef idx="minor"/>
  </cs:dataPointLine>
  <cs:dataPointMarker>
    <cs:lnRef idx="0"/>
    <cs:fillRef idx="0"/>
    <cs:effectRef idx="0"/>
    <cs:fontRef idx="minor"/>
  </cs:dataPointMarker>
  <cs:dataPointMarkerLayout>
    <cs:lnRef idx="0"/>
    <cs:fillRef idx="0"/>
    <cs:effectRef idx="0"/>
    <cs:fontRef idx="minor"/>
  </cs:dataPointMarkerLayout>
  <cs:dataPointWireframe>
    <cs:lnRef idx="0"/>
    <cs:fillRef idx="0"/>
    <cs:effectRef idx="0"/>
    <cs:fontRef idx="minor"/>
  </cs:dataPointWireframe>
  <cs:dataTable>
    <cs:lnRef idx="0"/>
    <cs:fillRef idx="0"/>
    <cs:effectRef idx="0"/>
    <cs:fontRef idx="minor"/>
  </cs:dataTable>
  <cs:downBar>
    <cs:lnRef idx="0"/>
    <cs:fillRef idx="0"/>
    <cs:effectRef idx="0"/>
    <cs:fontRef idx="minor"/>
  </cs:downBar>
  <cs:dropLine>
    <cs:lnRef idx="0"/>
    <cs:fillRef idx="0"/>
    <cs:effectRef idx="0"/>
    <cs:fontRef idx="minor"/>
  </cs:dropLine>
  <cs:errorBar>
    <cs:lnRef idx="0"/>
    <cs:fillRef idx="0"/>
    <cs:effectRef idx="0"/>
    <cs:fontRef idx="minor"/>
  </cs:errorBar>
  <cs:floor>
    <cs:lnRef idx="0"/>
    <cs:fillRef idx="0"/>
    <cs:effectRef idx="0"/>
    <cs:fontRef idx="minor"/>
  </cs:floor>
  <cs:gridlineMajor>
    <cs:lnRef idx="0"/>
    <cs:fillRef idx="0"/>
    <cs:effectRef idx="0"/>
    <cs:fontRef idx="minor"/>
  </cs:gridlineMajor>
  <cs:gridlineMinor>
    <cs:lnRef idx="0"/>
    <cs:fillRef idx="0"/>
    <cs:effectRef idx="0"/>
    <cs:fontRef idx="minor"/>
  </cs:gridlineMinor>
  <cs:hiLoLine>
    <cs:lnRef idx="0"/>
    <cs:fillRef idx="0"/>
    <cs:effectRef idx="0"/>
    <cs:fontRef idx="minor"/>
  </cs:hiLoLine>
  <cs:leaderLine>
    <cs:lnRef idx="0"/>
    <cs:fillRef idx="0"/>
    <cs:effectRef idx="0"/>
    <cs:fontRef idx="minor"/>
  </cs:leaderLine>
  <cs:legend>
    <cs:lnRef idx="0"/>
    <cs:fillRef idx="0"/>
    <cs:effectRef idx="0"/>
    <cs:fontRef idx="minor"/>
  </cs:legend>
  <cs:plotArea>
    <cs:lnRef idx="0"/>
    <cs:fillRef idx="0"/>
    <cs:effectRef idx="0"/>
    <cs:fontRef idx="minor"/>
  </cs:plotArea>
  <cs:plotArea3D>
    <cs:lnRef idx="0"/>
    <cs:fillRef idx="0"/>
    <cs:effectRef idx="0"/>
    <cs:fontRef idx="minor"/>
  </cs:plotArea3D>
  <cs:seriesAxis>
    <cs:lnRef idx="0"/>
    <cs:fillRef idx="0"/>
    <cs:effectRef idx="0"/>
    <cs:fontRef idx="minor"/>
  </cs:seriesAxis>
  <cs:seriesLine>
    <cs:lnRef idx="0"/>
    <cs:fillRef idx="0"/>
    <cs:effectRef idx="0"/>
    <cs:fontRef idx="minor"/>
  </cs:seriesLine>
  <cs:title>
    <cs:lnRef idx="0"/>
    <cs:fillRef idx="0"/>
    <cs:effectRef idx="0"/>
    <cs:fontRef idx="minor"/>
  </cs:title>
  <cs:trendline>
    <cs:lnRef idx="0"/>
    <cs:fillRef idx="0"/>
    <cs:effectRef idx="0"/>
    <cs:fontRef idx="minor"/>
  </cs:trendline>
  <cs:trendlineLabel>
    <cs:lnRef idx="0"/>
    <cs:fillRef idx="0"/>
    <cs:effectRef idx="0"/>
    <cs:fontRef idx="minor"/>
  </cs:trendlineLabel>
  <cs:upBar>
    <cs:lnRef idx="0"/>
    <cs:fillRef idx="0"/>
    <cs:effectRef idx="0"/>
    <cs:fontRef idx="minor"/>
  </cs:upBar>
  <cs:valueAxis>
    <cs:lnRef idx="0"/>
    <cs:fillRef idx="0"/>
    <cs:effectRef idx="0"/>
    <cs:fontRef idx="minor"/>
  </cs:valueAxis>
  <cs:wall>
    <cs:lnRef idx="0"/>
    <cs:fillRef idx="0"/>
    <cs:effectRef idx="0"/>
    <cs:fontRef idx="minor"/>
  </cs:wall>
</cs:chartStyle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C73387C-8F67-446D-96BC-CB1786CF7F5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937CC9C-B210-4B8A-8521-8FE8E2A18D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D2D2333-6631-4D8B-97D2-F45ECC85A0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053207-0A86-43E4-9EE7-C0A818E2703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A09CD1-BBBD-4A6C-B0DE-B5AFBB95190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DA1663-DA61-4E8F-A9CB-DDF96674CD2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8C2CB0-A2F7-4EAF-B8B1-5D62260BAD3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A575099-3394-45A4-A559-496B4C9AE24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FF9BD3B-ED45-4701-B6B4-27B6B72BED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5A0EA6-4AA3-49D9-8955-84C4B69B749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22960" y="777240"/>
            <a:ext cx="822600" cy="8226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" name="Image 0" descr="preencoded.png"/>
          <p:cNvPicPr/>
          <p:nvPr/>
        </p:nvPicPr>
        <p:blipFill>
          <a:blip r:embed="rId1"/>
          <a:stretch/>
        </p:blipFill>
        <p:spPr>
          <a:xfrm>
            <a:off x="1008000" y="962280"/>
            <a:ext cx="452160" cy="45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Text 1"/>
          <p:cNvSpPr/>
          <p:nvPr/>
        </p:nvSpPr>
        <p:spPr>
          <a:xfrm>
            <a:off x="640080" y="2286000"/>
            <a:ext cx="1078956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Hurricane 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Harvey Flood </a:t>
            </a:r>
            <a:r>
              <a:rPr lang="en-US" sz="40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Forecaster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2"/>
          <p:cNvSpPr/>
          <p:nvPr/>
        </p:nvSpPr>
        <p:spPr>
          <a:xfrm>
            <a:off x="640080" y="3383280"/>
            <a:ext cx="100580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CFE8EE"/>
                </a:solidFill>
                <a:effectLst/>
                <a:uFillTx/>
                <a:latin typeface="Calibri"/>
                <a:ea typeface="Calibri"/>
              </a:rPr>
              <a:t>Watershed-level flood </a:t>
            </a:r>
            <a:r>
              <a:rPr lang="en-US" sz="2000" b="0" u="none" strike="noStrike">
                <a:solidFill>
                  <a:srgbClr val="CFE8EE"/>
                </a:solidFill>
                <a:effectLst/>
                <a:uFillTx/>
                <a:latin typeface="Calibri"/>
                <a:ea typeface="Calibri"/>
              </a:rPr>
              <a:t>forecasting for Harris County, </a:t>
            </a:r>
            <a:r>
              <a:rPr lang="en-US" sz="2000" b="0" u="none" strike="noStrike">
                <a:solidFill>
                  <a:srgbClr val="CFE8EE"/>
                </a:solidFill>
                <a:effectLst/>
                <a:uFillTx/>
                <a:latin typeface="Calibri"/>
                <a:ea typeface="Calibri"/>
              </a:rPr>
              <a:t>TX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3"/>
          <p:cNvSpPr/>
          <p:nvPr/>
        </p:nvSpPr>
        <p:spPr>
          <a:xfrm>
            <a:off x="640080" y="3931920"/>
            <a:ext cx="10058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i="1" u="none" strike="noStrike">
                <a:solidFill>
                  <a:srgbClr val="9FC4D4"/>
                </a:solidFill>
                <a:effectLst/>
                <a:uFillTx/>
                <a:latin typeface="Calibri"/>
                <a:ea typeface="Calibri"/>
              </a:rPr>
              <a:t>A zone-conditioned LSTM trained on </a:t>
            </a:r>
            <a:r>
              <a:rPr lang="en-US" sz="1500" b="0" i="1" u="none" strike="noStrike">
                <a:solidFill>
                  <a:srgbClr val="9FC4D4"/>
                </a:solidFill>
                <a:effectLst/>
                <a:uFillTx/>
                <a:latin typeface="Calibri"/>
                <a:ea typeface="Calibri"/>
              </a:rPr>
              <a:t>Hurricane Harvey (Aug 2017)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4"/>
          <p:cNvSpPr/>
          <p:nvPr/>
        </p:nvSpPr>
        <p:spPr>
          <a:xfrm>
            <a:off x="640080" y="612648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7FA8BA"/>
                </a:solidFill>
                <a:effectLst/>
                <a:uFillTx/>
                <a:latin typeface="Calibri"/>
                <a:ea typeface="Calibri"/>
              </a:rPr>
              <a:t>Deep Learning Project  |  Data: USGS NWIS  +  </a:t>
            </a:r>
            <a:r>
              <a:rPr lang="en-US" sz="1200" b="0" u="none" strike="noStrike">
                <a:solidFill>
                  <a:srgbClr val="7FA8BA"/>
                </a:solidFill>
                <a:effectLst/>
                <a:uFillTx/>
                <a:latin typeface="Calibri"/>
                <a:ea typeface="Calibri"/>
              </a:rPr>
              <a:t>NHC HURDAT2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640080" y="41148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The Problem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640080" y="1234440"/>
            <a:ext cx="64004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Rainfall during Harvey was </a:t>
            </a:r>
            <a:r>
              <a:rPr lang="en-US" sz="220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roughly county-wide.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08E45"/>
                </a:solidFill>
                <a:effectLst/>
                <a:uFillTx/>
                <a:latin typeface="Calibri"/>
                <a:ea typeface="Calibri"/>
              </a:rPr>
              <a:t>Flood outcomes were not.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640080" y="2148840"/>
            <a:ext cx="64004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Given rainfall + wind over the past 36 </a:t>
            </a:r>
            <a:r>
              <a:rPr lang="en-US" sz="1500" b="0" u="none" strike="noStrik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hours, forecast a gage's water level for </a:t>
            </a:r>
            <a:r>
              <a:rPr lang="en-US" sz="1500" b="0" u="none" strike="noStrik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the next 12 hours, and flag whether it </a:t>
            </a:r>
            <a:r>
              <a:rPr lang="en-US" sz="1500" b="0" u="none" strike="noStrik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crosses flood stage — conditioned on </a:t>
            </a:r>
            <a:r>
              <a:rPr lang="en-US" sz="1500" b="0" u="none" strike="noStrik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which Harris County watershed you're </a:t>
            </a:r>
            <a:r>
              <a:rPr lang="en-US" sz="1500" b="0" u="none" strike="noStrik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looking at.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640080" y="6035040"/>
            <a:ext cx="107895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The real question Harris County faces every </a:t>
            </a:r>
            <a:r>
              <a:rPr lang="en-US" sz="13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storm: rainfall is county-wide, but flood risk is </a:t>
            </a:r>
            <a:r>
              <a:rPr lang="en-US" sz="13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hyper-local.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4"/>
          <p:cNvSpPr/>
          <p:nvPr/>
        </p:nvSpPr>
        <p:spPr>
          <a:xfrm>
            <a:off x="7406640" y="1280160"/>
            <a:ext cx="4114440" cy="1188360"/>
          </a:xfrm>
          <a:prstGeom prst="roundRect">
            <a:avLst>
              <a:gd name="adj" fmla="val 6154"/>
            </a:avLst>
          </a:prstGeom>
          <a:solidFill>
            <a:srgbClr val="F7FAFB"/>
          </a:solidFill>
          <a:ln w="0">
            <a:noFill/>
          </a:ln>
          <a:effectLst>
            <a:outerShdw algn="bl" blurRad="7632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5"/>
          <p:cNvSpPr/>
          <p:nvPr/>
        </p:nvSpPr>
        <p:spPr>
          <a:xfrm>
            <a:off x="7589520" y="1508760"/>
            <a:ext cx="731160" cy="731160"/>
          </a:xfrm>
          <a:prstGeom prst="ellipse">
            <a:avLst/>
          </a:prstGeom>
          <a:solidFill>
            <a:srgbClr val="CFE8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2" name="Image 0" descr="preencoded.png"/>
          <p:cNvPicPr/>
          <p:nvPr/>
        </p:nvPicPr>
        <p:blipFill>
          <a:blip r:embed="rId1"/>
          <a:stretch/>
        </p:blipFill>
        <p:spPr>
          <a:xfrm>
            <a:off x="7754040" y="1673280"/>
            <a:ext cx="402120" cy="40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Text 6"/>
          <p:cNvSpPr/>
          <p:nvPr/>
        </p:nvSpPr>
        <p:spPr>
          <a:xfrm>
            <a:off x="8503920" y="1444680"/>
            <a:ext cx="2880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Flashy urban bayous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7"/>
          <p:cNvSpPr/>
          <p:nvPr/>
        </p:nvSpPr>
        <p:spPr>
          <a:xfrm>
            <a:off x="8503920" y="1810440"/>
            <a:ext cx="2880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Buffalo &amp; Brays Bayou — fast rise, fast fall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8"/>
          <p:cNvSpPr/>
          <p:nvPr/>
        </p:nvSpPr>
        <p:spPr>
          <a:xfrm>
            <a:off x="7406640" y="2697480"/>
            <a:ext cx="4114440" cy="1188360"/>
          </a:xfrm>
          <a:prstGeom prst="roundRect">
            <a:avLst>
              <a:gd name="adj" fmla="val 6154"/>
            </a:avLst>
          </a:prstGeom>
          <a:solidFill>
            <a:srgbClr val="F7FAFB"/>
          </a:solidFill>
          <a:ln w="0">
            <a:noFill/>
          </a:ln>
          <a:effectLst>
            <a:outerShdw algn="bl" blurRad="7632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9"/>
          <p:cNvSpPr/>
          <p:nvPr/>
        </p:nvSpPr>
        <p:spPr>
          <a:xfrm>
            <a:off x="7589520" y="2926080"/>
            <a:ext cx="731160" cy="731160"/>
          </a:xfrm>
          <a:prstGeom prst="ellipse">
            <a:avLst/>
          </a:prstGeom>
          <a:solidFill>
            <a:srgbClr val="CFE8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Image 1" descr="preencoded.png"/>
          <p:cNvPicPr/>
          <p:nvPr/>
        </p:nvPicPr>
        <p:blipFill>
          <a:blip r:embed="rId2"/>
          <a:stretch/>
        </p:blipFill>
        <p:spPr>
          <a:xfrm>
            <a:off x="7754040" y="3090600"/>
            <a:ext cx="402120" cy="40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Text 10"/>
          <p:cNvSpPr/>
          <p:nvPr/>
        </p:nvSpPr>
        <p:spPr>
          <a:xfrm>
            <a:off x="8503920" y="2862000"/>
            <a:ext cx="2880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Extreme rural rainfall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11"/>
          <p:cNvSpPr/>
          <p:nvPr/>
        </p:nvSpPr>
        <p:spPr>
          <a:xfrm>
            <a:off x="8503920" y="3227760"/>
            <a:ext cx="2880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Cypress Creek — highest totals, prolonged rise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2"/>
          <p:cNvSpPr/>
          <p:nvPr/>
        </p:nvSpPr>
        <p:spPr>
          <a:xfrm>
            <a:off x="7406640" y="4114800"/>
            <a:ext cx="4114440" cy="1188360"/>
          </a:xfrm>
          <a:prstGeom prst="roundRect">
            <a:avLst>
              <a:gd name="adj" fmla="val 6154"/>
            </a:avLst>
          </a:prstGeom>
          <a:solidFill>
            <a:srgbClr val="F7FAFB"/>
          </a:solidFill>
          <a:ln w="0">
            <a:noFill/>
          </a:ln>
          <a:effectLst>
            <a:outerShdw algn="bl" blurRad="7632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3"/>
          <p:cNvSpPr/>
          <p:nvPr/>
        </p:nvSpPr>
        <p:spPr>
          <a:xfrm>
            <a:off x="7589520" y="4343400"/>
            <a:ext cx="731160" cy="731160"/>
          </a:xfrm>
          <a:prstGeom prst="ellipse">
            <a:avLst/>
          </a:prstGeom>
          <a:solidFill>
            <a:srgbClr val="CFE8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" name="Image 2" descr="preencoded.png"/>
          <p:cNvPicPr/>
          <p:nvPr/>
        </p:nvPicPr>
        <p:blipFill>
          <a:blip r:embed="rId3"/>
          <a:stretch/>
        </p:blipFill>
        <p:spPr>
          <a:xfrm>
            <a:off x="7754040" y="4507920"/>
            <a:ext cx="402120" cy="402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" name="Text 14"/>
          <p:cNvSpPr/>
          <p:nvPr/>
        </p:nvSpPr>
        <p:spPr>
          <a:xfrm>
            <a:off x="8503920" y="4279320"/>
            <a:ext cx="2880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Human-controlled release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8503920" y="4645080"/>
            <a:ext cx="28800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Addicks Reservoir — slow, policy-driven recession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0"/>
          <p:cNvSpPr/>
          <p:nvPr/>
        </p:nvSpPr>
        <p:spPr>
          <a:xfrm>
            <a:off x="640080" y="41148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Dataset: 4 Watersheds, 1 Storm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6" name="Table 0"/>
          <p:cNvGraphicFramePr/>
          <p:nvPr/>
        </p:nvGraphicFramePr>
        <p:xfrm>
          <a:off x="640080" y="1280160"/>
          <a:ext cx="10881000" cy="237708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  <a:gridCol w="5943600"/>
              </a:tblGrid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Zone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E2EAEC"/>
                      </a:solidFill>
                      <a:prstDash val="solid"/>
                    </a:lnL>
                    <a:lnR w="9360">
                      <a:solidFill>
                        <a:srgbClr val="E2EAEC"/>
                      </a:solidFill>
                      <a:prstDash val="solid"/>
                    </a:lnR>
                    <a:lnT w="9360">
                      <a:solidFill>
                        <a:srgbClr val="E2EAEC"/>
                      </a:solidFill>
                      <a:prstDash val="solid"/>
                    </a:lnT>
                    <a:lnB w="9360">
                      <a:solidFill>
                        <a:srgbClr val="E2EAEC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USGS Site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E2EAEC"/>
                      </a:solidFill>
                      <a:prstDash val="solid"/>
                    </a:lnL>
                    <a:lnR w="9360">
                      <a:solidFill>
                        <a:srgbClr val="E2EAEC"/>
                      </a:solidFill>
                      <a:prstDash val="solid"/>
                    </a:lnR>
                    <a:lnT w="9360">
                      <a:solidFill>
                        <a:srgbClr val="E2EAEC"/>
                      </a:solidFill>
                      <a:prstDash val="solid"/>
                    </a:lnT>
                    <a:lnB w="9360">
                      <a:solidFill>
                        <a:srgbClr val="E2EAEC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Watershed character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E2EAEC"/>
                      </a:solidFill>
                      <a:prstDash val="solid"/>
                    </a:lnL>
                    <a:lnR w="9360">
                      <a:solidFill>
                        <a:srgbClr val="E2EAEC"/>
                      </a:solidFill>
                      <a:prstDash val="solid"/>
                    </a:lnR>
                    <a:lnT w="9360">
                      <a:solidFill>
                        <a:srgbClr val="E2EAEC"/>
                      </a:solidFill>
                      <a:prstDash val="solid"/>
                    </a:lnT>
                    <a:lnB w="9360">
                      <a:solidFill>
                        <a:srgbClr val="E2EAEC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4556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Buffalo Bayou at Houston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E2EAEC"/>
                      </a:solidFill>
                      <a:prstDash val="solid"/>
                    </a:lnL>
                    <a:lnR w="9360">
                      <a:solidFill>
                        <a:srgbClr val="E2EAEC"/>
                      </a:solidFill>
                      <a:prstDash val="solid"/>
                    </a:lnR>
                    <a:lnT w="9360">
                      <a:solidFill>
                        <a:srgbClr val="E2EAEC"/>
                      </a:solidFill>
                      <a:prstDash val="solid"/>
                    </a:lnT>
                    <a:lnB w="9360">
                      <a:solidFill>
                        <a:srgbClr val="E2EA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4556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08074500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E2EAEC"/>
                      </a:solidFill>
                      <a:prstDash val="solid"/>
                    </a:lnL>
                    <a:lnR w="9360">
                      <a:solidFill>
                        <a:srgbClr val="E2EAEC"/>
                      </a:solidFill>
                      <a:prstDash val="solid"/>
                    </a:lnR>
                    <a:lnT w="9360">
                      <a:solidFill>
                        <a:srgbClr val="E2EAEC"/>
                      </a:solidFill>
                      <a:prstDash val="solid"/>
                    </a:lnT>
                    <a:lnB w="9360">
                      <a:solidFill>
                        <a:srgbClr val="E2EA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4556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Urban bayou — fast, flashy response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E2EAEC"/>
                      </a:solidFill>
                      <a:prstDash val="solid"/>
                    </a:lnL>
                    <a:lnR w="9360">
                      <a:solidFill>
                        <a:srgbClr val="E2EAEC"/>
                      </a:solidFill>
                      <a:prstDash val="solid"/>
                    </a:lnR>
                    <a:lnT w="9360">
                      <a:solidFill>
                        <a:srgbClr val="E2EAEC"/>
                      </a:solidFill>
                      <a:prstDash val="solid"/>
                    </a:lnT>
                    <a:lnB w="9360">
                      <a:solidFill>
                        <a:srgbClr val="E2EAEC"/>
                      </a:solidFill>
                      <a:prstDash val="solid"/>
                    </a:lnB>
                    <a:noFill/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4556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Brays Bayou at Houston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E2EAEC"/>
                      </a:solidFill>
                      <a:prstDash val="solid"/>
                    </a:lnL>
                    <a:lnR w="9360">
                      <a:solidFill>
                        <a:srgbClr val="E2EAEC"/>
                      </a:solidFill>
                      <a:prstDash val="solid"/>
                    </a:lnR>
                    <a:lnT w="9360">
                      <a:solidFill>
                        <a:srgbClr val="E2EAEC"/>
                      </a:solidFill>
                      <a:prstDash val="solid"/>
                    </a:lnT>
                    <a:lnB w="9360">
                      <a:solidFill>
                        <a:srgbClr val="E2EA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4556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08075000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E2EAEC"/>
                      </a:solidFill>
                      <a:prstDash val="solid"/>
                    </a:lnL>
                    <a:lnR w="9360">
                      <a:solidFill>
                        <a:srgbClr val="E2EAEC"/>
                      </a:solidFill>
                      <a:prstDash val="solid"/>
                    </a:lnR>
                    <a:lnT w="9360">
                      <a:solidFill>
                        <a:srgbClr val="E2EAEC"/>
                      </a:solidFill>
                      <a:prstDash val="solid"/>
                    </a:lnT>
                    <a:lnB w="9360">
                      <a:solidFill>
                        <a:srgbClr val="E2EA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4556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Urban bayou — repeated residential flooding (Meyerland)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E2EAEC"/>
                      </a:solidFill>
                      <a:prstDash val="solid"/>
                    </a:lnL>
                    <a:lnR w="9360">
                      <a:solidFill>
                        <a:srgbClr val="E2EAEC"/>
                      </a:solidFill>
                      <a:prstDash val="solid"/>
                    </a:lnR>
                    <a:lnT w="9360">
                      <a:solidFill>
                        <a:srgbClr val="E2EAEC"/>
                      </a:solidFill>
                      <a:prstDash val="solid"/>
                    </a:lnT>
                    <a:lnB w="9360">
                      <a:solidFill>
                        <a:srgbClr val="E2EAEC"/>
                      </a:solidFill>
                      <a:prstDash val="solid"/>
                    </a:lnB>
                    <a:noFill/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4556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Cypress Creek near Westfield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E2EAEC"/>
                      </a:solidFill>
                      <a:prstDash val="solid"/>
                    </a:lnL>
                    <a:lnR w="9360">
                      <a:solidFill>
                        <a:srgbClr val="E2EAEC"/>
                      </a:solidFill>
                      <a:prstDash val="solid"/>
                    </a:lnR>
                    <a:lnT w="9360">
                      <a:solidFill>
                        <a:srgbClr val="E2EAEC"/>
                      </a:solidFill>
                      <a:prstDash val="solid"/>
                    </a:lnT>
                    <a:lnB w="9360">
                      <a:solidFill>
                        <a:srgbClr val="E2EA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4556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08068500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E2EAEC"/>
                      </a:solidFill>
                      <a:prstDash val="solid"/>
                    </a:lnL>
                    <a:lnR w="9360">
                      <a:solidFill>
                        <a:srgbClr val="E2EAEC"/>
                      </a:solidFill>
                      <a:prstDash val="solid"/>
                    </a:lnR>
                    <a:lnT w="9360">
                      <a:solidFill>
                        <a:srgbClr val="E2EAEC"/>
                      </a:solidFill>
                      <a:prstDash val="solid"/>
                    </a:lnT>
                    <a:lnB w="9360">
                      <a:solidFill>
                        <a:srgbClr val="E2EA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4556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Rural/suburban — Harvey's most extreme rainfall totals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E2EAEC"/>
                      </a:solidFill>
                      <a:prstDash val="solid"/>
                    </a:lnL>
                    <a:lnR w="9360">
                      <a:solidFill>
                        <a:srgbClr val="E2EAEC"/>
                      </a:solidFill>
                      <a:prstDash val="solid"/>
                    </a:lnR>
                    <a:lnT w="9360">
                      <a:solidFill>
                        <a:srgbClr val="E2EAEC"/>
                      </a:solidFill>
                      <a:prstDash val="solid"/>
                    </a:lnT>
                    <a:lnB w="9360">
                      <a:solidFill>
                        <a:srgbClr val="E2EAEC"/>
                      </a:solidFill>
                      <a:prstDash val="solid"/>
                    </a:lnB>
                    <a:noFill/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4556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Addicks Reservoir near Addicks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E2EAEC"/>
                      </a:solidFill>
                      <a:prstDash val="solid"/>
                    </a:lnL>
                    <a:lnR w="9360">
                      <a:solidFill>
                        <a:srgbClr val="E2EAEC"/>
                      </a:solidFill>
                      <a:prstDash val="solid"/>
                    </a:lnR>
                    <a:lnT w="9360">
                      <a:solidFill>
                        <a:srgbClr val="E2EAEC"/>
                      </a:solidFill>
                      <a:prstDash val="solid"/>
                    </a:lnT>
                    <a:lnB w="9360">
                      <a:solidFill>
                        <a:srgbClr val="E2EA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4556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08073000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E2EAEC"/>
                      </a:solidFill>
                      <a:prstDash val="solid"/>
                    </a:lnL>
                    <a:lnR w="9360">
                      <a:solidFill>
                        <a:srgbClr val="E2EAEC"/>
                      </a:solidFill>
                      <a:prstDash val="solid"/>
                    </a:lnR>
                    <a:lnT w="9360">
                      <a:solidFill>
                        <a:srgbClr val="E2EAEC"/>
                      </a:solidFill>
                      <a:prstDash val="solid"/>
                    </a:lnT>
                    <a:lnB w="9360">
                      <a:solidFill>
                        <a:srgbClr val="E2EA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4556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Flood-control reservoir — slow, human-controlled release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E2EAEC"/>
                      </a:solidFill>
                      <a:prstDash val="solid"/>
                    </a:lnL>
                    <a:lnR w="9360">
                      <a:solidFill>
                        <a:srgbClr val="E2EAEC"/>
                      </a:solidFill>
                      <a:prstDash val="solid"/>
                    </a:lnR>
                    <a:lnT w="9360">
                      <a:solidFill>
                        <a:srgbClr val="E2EAEC"/>
                      </a:solidFill>
                      <a:prstDash val="solid"/>
                    </a:lnT>
                    <a:lnB w="9360">
                      <a:solidFill>
                        <a:srgbClr val="E2EAE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7" name="Text 1"/>
          <p:cNvSpPr/>
          <p:nvPr/>
        </p:nvSpPr>
        <p:spPr>
          <a:xfrm>
            <a:off x="640080" y="3977640"/>
            <a:ext cx="108810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Signals pulled for each zone (storm window Aug 23 – Sep 2, 2017):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2"/>
          <p:cNvSpPr/>
          <p:nvPr/>
        </p:nvSpPr>
        <p:spPr>
          <a:xfrm>
            <a:off x="640080" y="4480560"/>
            <a:ext cx="3520080" cy="1554120"/>
          </a:xfrm>
          <a:prstGeom prst="roundRect">
            <a:avLst>
              <a:gd name="adj" fmla="val 4706"/>
            </a:avLst>
          </a:prstGeom>
          <a:solidFill>
            <a:srgbClr val="F7FAFB"/>
          </a:solidFill>
          <a:ln w="0">
            <a:noFill/>
          </a:ln>
          <a:effectLst>
            <a:outerShdw algn="bl" blurRad="7632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3"/>
          <p:cNvSpPr/>
          <p:nvPr/>
        </p:nvSpPr>
        <p:spPr>
          <a:xfrm>
            <a:off x="868680" y="4663440"/>
            <a:ext cx="639720" cy="639720"/>
          </a:xfrm>
          <a:prstGeom prst="ellipse">
            <a:avLst/>
          </a:prstGeom>
          <a:solidFill>
            <a:srgbClr val="CFE8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" name="Image 0" descr="preencoded.png"/>
          <p:cNvPicPr/>
          <p:nvPr/>
        </p:nvPicPr>
        <p:blipFill>
          <a:blip r:embed="rId1"/>
          <a:stretch/>
        </p:blipFill>
        <p:spPr>
          <a:xfrm>
            <a:off x="1012680" y="4807440"/>
            <a:ext cx="351720" cy="35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" name="Text 4"/>
          <p:cNvSpPr/>
          <p:nvPr/>
        </p:nvSpPr>
        <p:spPr>
          <a:xfrm>
            <a:off x="868680" y="544068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Gage height &amp; discharge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5"/>
          <p:cNvSpPr/>
          <p:nvPr/>
        </p:nvSpPr>
        <p:spPr>
          <a:xfrm>
            <a:off x="868680" y="574236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USGS NWIS instantaneous values service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6"/>
          <p:cNvSpPr/>
          <p:nvPr/>
        </p:nvSpPr>
        <p:spPr>
          <a:xfrm>
            <a:off x="4389120" y="4480560"/>
            <a:ext cx="3520080" cy="1554120"/>
          </a:xfrm>
          <a:prstGeom prst="roundRect">
            <a:avLst>
              <a:gd name="adj" fmla="val 4706"/>
            </a:avLst>
          </a:prstGeom>
          <a:solidFill>
            <a:srgbClr val="F7FAFB"/>
          </a:solidFill>
          <a:ln w="0">
            <a:noFill/>
          </a:ln>
          <a:effectLst>
            <a:outerShdw algn="bl" blurRad="7632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7"/>
          <p:cNvSpPr/>
          <p:nvPr/>
        </p:nvSpPr>
        <p:spPr>
          <a:xfrm>
            <a:off x="4617720" y="4663440"/>
            <a:ext cx="639720" cy="639720"/>
          </a:xfrm>
          <a:prstGeom prst="ellipse">
            <a:avLst/>
          </a:prstGeom>
          <a:solidFill>
            <a:srgbClr val="CFE8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" name="Image 1" descr="preencoded.png"/>
          <p:cNvPicPr/>
          <p:nvPr/>
        </p:nvPicPr>
        <p:blipFill>
          <a:blip r:embed="rId2"/>
          <a:stretch/>
        </p:blipFill>
        <p:spPr>
          <a:xfrm>
            <a:off x="4761720" y="4807440"/>
            <a:ext cx="351720" cy="35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Text 8"/>
          <p:cNvSpPr/>
          <p:nvPr/>
        </p:nvSpPr>
        <p:spPr>
          <a:xfrm>
            <a:off x="4617720" y="544068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Precipitation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9"/>
          <p:cNvSpPr/>
          <p:nvPr/>
        </p:nvSpPr>
        <p:spPr>
          <a:xfrm>
            <a:off x="4617720" y="574236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USGS NWIS, parameter 00045 (co-located gages)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10"/>
          <p:cNvSpPr/>
          <p:nvPr/>
        </p:nvSpPr>
        <p:spPr>
          <a:xfrm>
            <a:off x="8138160" y="4480560"/>
            <a:ext cx="3520080" cy="1554120"/>
          </a:xfrm>
          <a:prstGeom prst="roundRect">
            <a:avLst>
              <a:gd name="adj" fmla="val 4706"/>
            </a:avLst>
          </a:prstGeom>
          <a:solidFill>
            <a:srgbClr val="F7FAFB"/>
          </a:solidFill>
          <a:ln w="0">
            <a:noFill/>
          </a:ln>
          <a:effectLst>
            <a:outerShdw algn="bl" blurRad="76320" dir="27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1"/>
          <p:cNvSpPr/>
          <p:nvPr/>
        </p:nvSpPr>
        <p:spPr>
          <a:xfrm>
            <a:off x="8366760" y="4663440"/>
            <a:ext cx="639720" cy="639720"/>
          </a:xfrm>
          <a:prstGeom prst="ellipse">
            <a:avLst/>
          </a:prstGeom>
          <a:solidFill>
            <a:srgbClr val="CFE8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" name="Image 2" descr="preencoded.png"/>
          <p:cNvPicPr/>
          <p:nvPr/>
        </p:nvPicPr>
        <p:blipFill>
          <a:blip r:embed="rId3"/>
          <a:stretch/>
        </p:blipFill>
        <p:spPr>
          <a:xfrm>
            <a:off x="8510760" y="4807440"/>
            <a:ext cx="351720" cy="351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 12"/>
          <p:cNvSpPr/>
          <p:nvPr/>
        </p:nvSpPr>
        <p:spPr>
          <a:xfrm>
            <a:off x="8366760" y="5440680"/>
            <a:ext cx="31086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Wind speed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3"/>
          <p:cNvSpPr/>
          <p:nvPr/>
        </p:nvSpPr>
        <p:spPr>
          <a:xfrm>
            <a:off x="8366760" y="5742360"/>
            <a:ext cx="31086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NHC HURDAT2 best track for Harvey (AL092017)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0"/>
          <p:cNvSpPr/>
          <p:nvPr/>
        </p:nvSpPr>
        <p:spPr>
          <a:xfrm>
            <a:off x="640080" y="41148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Model: One Encoder, Conditioned on Zone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640080" y="105156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Shared LSTM across all 4 gages — a zone embedding specializes the response per watershed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2"/>
          <p:cNvSpPr/>
          <p:nvPr/>
        </p:nvSpPr>
        <p:spPr>
          <a:xfrm>
            <a:off x="457200" y="2377440"/>
            <a:ext cx="2285640" cy="914040"/>
          </a:xfrm>
          <a:prstGeom prst="roundRect">
            <a:avLst>
              <a:gd name="adj" fmla="val 8000"/>
            </a:avLst>
          </a:prstGeom>
          <a:solidFill>
            <a:srgbClr val="CFE8EE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548640" y="245052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Rainfall + Wind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4"/>
          <p:cNvSpPr/>
          <p:nvPr/>
        </p:nvSpPr>
        <p:spPr>
          <a:xfrm>
            <a:off x="548640" y="2880360"/>
            <a:ext cx="21027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36h lookback window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5"/>
          <p:cNvSpPr/>
          <p:nvPr/>
        </p:nvSpPr>
        <p:spPr>
          <a:xfrm>
            <a:off x="2743200" y="2834640"/>
            <a:ext cx="411480" cy="360"/>
          </a:xfrm>
          <a:prstGeom prst="line">
            <a:avLst/>
          </a:prstGeom>
          <a:ln w="19050">
            <a:solidFill>
              <a:srgbClr val="4455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6"/>
          <p:cNvSpPr/>
          <p:nvPr/>
        </p:nvSpPr>
        <p:spPr>
          <a:xfrm>
            <a:off x="3154680" y="2377440"/>
            <a:ext cx="2011320" cy="91404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7"/>
          <p:cNvSpPr/>
          <p:nvPr/>
        </p:nvSpPr>
        <p:spPr>
          <a:xfrm>
            <a:off x="3246120" y="2450520"/>
            <a:ext cx="1828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Zone Embedding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8"/>
          <p:cNvSpPr/>
          <p:nvPr/>
        </p:nvSpPr>
        <p:spPr>
          <a:xfrm>
            <a:off x="3246120" y="2880360"/>
            <a:ext cx="1828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learned, per watershed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9"/>
          <p:cNvSpPr/>
          <p:nvPr/>
        </p:nvSpPr>
        <p:spPr>
          <a:xfrm>
            <a:off x="5166360" y="2834640"/>
            <a:ext cx="411480" cy="360"/>
          </a:xfrm>
          <a:prstGeom prst="line">
            <a:avLst/>
          </a:prstGeom>
          <a:ln w="19050">
            <a:solidFill>
              <a:srgbClr val="4455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10"/>
          <p:cNvSpPr/>
          <p:nvPr/>
        </p:nvSpPr>
        <p:spPr>
          <a:xfrm>
            <a:off x="5577840" y="2377440"/>
            <a:ext cx="2377080" cy="91404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1"/>
          <p:cNvSpPr/>
          <p:nvPr/>
        </p:nvSpPr>
        <p:spPr>
          <a:xfrm>
            <a:off x="5669280" y="2450520"/>
            <a:ext cx="219420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Shared LSTM Encoder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2"/>
          <p:cNvSpPr/>
          <p:nvPr/>
        </p:nvSpPr>
        <p:spPr>
          <a:xfrm>
            <a:off x="5669280" y="2880360"/>
            <a:ext cx="21942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 layers, hidden=64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3"/>
          <p:cNvSpPr/>
          <p:nvPr/>
        </p:nvSpPr>
        <p:spPr>
          <a:xfrm>
            <a:off x="7955280" y="2834640"/>
            <a:ext cx="640080" cy="360"/>
          </a:xfrm>
          <a:prstGeom prst="line">
            <a:avLst/>
          </a:prstGeom>
          <a:ln w="19050">
            <a:solidFill>
              <a:srgbClr val="4455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4"/>
          <p:cNvSpPr/>
          <p:nvPr/>
        </p:nvSpPr>
        <p:spPr>
          <a:xfrm>
            <a:off x="8595360" y="1805760"/>
            <a:ext cx="360" cy="1965960"/>
          </a:xfrm>
          <a:prstGeom prst="line">
            <a:avLst/>
          </a:prstGeom>
          <a:ln w="19050">
            <a:solidFill>
              <a:srgbClr val="4455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15"/>
          <p:cNvSpPr/>
          <p:nvPr/>
        </p:nvSpPr>
        <p:spPr>
          <a:xfrm>
            <a:off x="8595360" y="1805760"/>
            <a:ext cx="320040" cy="360"/>
          </a:xfrm>
          <a:prstGeom prst="line">
            <a:avLst/>
          </a:prstGeom>
          <a:ln w="19050">
            <a:solidFill>
              <a:srgbClr val="4455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6"/>
          <p:cNvSpPr/>
          <p:nvPr/>
        </p:nvSpPr>
        <p:spPr>
          <a:xfrm>
            <a:off x="8595360" y="3771720"/>
            <a:ext cx="320040" cy="360"/>
          </a:xfrm>
          <a:prstGeom prst="line">
            <a:avLst/>
          </a:prstGeom>
          <a:ln w="19050">
            <a:solidFill>
              <a:srgbClr val="445566"/>
            </a:solidFill>
            <a:round/>
            <a:tailEnd len="med" type="triangle" w="med"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7"/>
          <p:cNvSpPr/>
          <p:nvPr/>
        </p:nvSpPr>
        <p:spPr>
          <a:xfrm>
            <a:off x="8915400" y="1371600"/>
            <a:ext cx="2788560" cy="868320"/>
          </a:xfrm>
          <a:prstGeom prst="roundRect">
            <a:avLst>
              <a:gd name="adj" fmla="val 8421"/>
            </a:avLst>
          </a:prstGeom>
          <a:solidFill>
            <a:srgbClr val="E08E45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8"/>
          <p:cNvSpPr/>
          <p:nvPr/>
        </p:nvSpPr>
        <p:spPr>
          <a:xfrm>
            <a:off x="9006840" y="1426320"/>
            <a:ext cx="2605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Regression Head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9"/>
          <p:cNvSpPr/>
          <p:nvPr/>
        </p:nvSpPr>
        <p:spPr>
          <a:xfrm>
            <a:off x="9006840" y="181044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water level, next 12h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20"/>
          <p:cNvSpPr/>
          <p:nvPr/>
        </p:nvSpPr>
        <p:spPr>
          <a:xfrm>
            <a:off x="8915400" y="3337560"/>
            <a:ext cx="2788560" cy="868320"/>
          </a:xfrm>
          <a:prstGeom prst="roundRect">
            <a:avLst>
              <a:gd name="adj" fmla="val 8421"/>
            </a:avLst>
          </a:prstGeom>
          <a:solidFill>
            <a:srgbClr val="21295C"/>
          </a:solidFill>
          <a:ln w="0">
            <a:noFill/>
          </a:ln>
          <a:effectLst>
            <a:outerShdw algn="bl" blurRad="63360" dir="2700000" dist="25455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1"/>
          <p:cNvSpPr/>
          <p:nvPr/>
        </p:nvSpPr>
        <p:spPr>
          <a:xfrm>
            <a:off x="9006840" y="3392280"/>
            <a:ext cx="26056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Classification Head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2"/>
          <p:cNvSpPr/>
          <p:nvPr/>
        </p:nvSpPr>
        <p:spPr>
          <a:xfrm>
            <a:off x="9006840" y="3776400"/>
            <a:ext cx="26056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flood-stage probability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3"/>
          <p:cNvSpPr/>
          <p:nvPr/>
        </p:nvSpPr>
        <p:spPr>
          <a:xfrm>
            <a:off x="640080" y="4663440"/>
            <a:ext cx="1088100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Why share one encoder instead of 4 separate models? Each gage only has ~10 days of storm data — too little for a model to learn alone. Sharing lets the encoder learn general storm dynamics from all 4 gages, while the zone embedding specializes the shape per watershed.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4"/>
          <p:cNvSpPr/>
          <p:nvPr/>
        </p:nvSpPr>
        <p:spPr>
          <a:xfrm>
            <a:off x="640080" y="580644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This is also the exact mechanism the demo exploits: swap the zone embedding, hold rainfall/wind fixed, isolate the effect of location.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Text 0"/>
          <p:cNvSpPr/>
          <p:nvPr/>
        </p:nvSpPr>
        <p:spPr>
          <a:xfrm>
            <a:off x="640080" y="41148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Training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"/>
          <p:cNvSpPr/>
          <p:nvPr/>
        </p:nvSpPr>
        <p:spPr>
          <a:xfrm>
            <a:off x="640080" y="1371600"/>
            <a:ext cx="5120280" cy="868320"/>
          </a:xfrm>
          <a:prstGeom prst="roundRect">
            <a:avLst>
              <a:gd name="adj" fmla="val 8421"/>
            </a:avLst>
          </a:prstGeom>
          <a:solidFill>
            <a:srgbClr val="F7FA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2"/>
          <p:cNvSpPr/>
          <p:nvPr/>
        </p:nvSpPr>
        <p:spPr>
          <a:xfrm>
            <a:off x="868680" y="1444680"/>
            <a:ext cx="466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Multi-task loss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3"/>
          <p:cNvSpPr/>
          <p:nvPr/>
        </p:nvSpPr>
        <p:spPr>
          <a:xfrm>
            <a:off x="868680" y="178308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MSE on water level + weighted BCE on flood-stage exceedance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4"/>
          <p:cNvSpPr/>
          <p:nvPr/>
        </p:nvSpPr>
        <p:spPr>
          <a:xfrm>
            <a:off x="640080" y="2395800"/>
            <a:ext cx="5120280" cy="868320"/>
          </a:xfrm>
          <a:prstGeom prst="roundRect">
            <a:avLst>
              <a:gd name="adj" fmla="val 8421"/>
            </a:avLst>
          </a:prstGeom>
          <a:solidFill>
            <a:srgbClr val="F7FA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5"/>
          <p:cNvSpPr/>
          <p:nvPr/>
        </p:nvSpPr>
        <p:spPr>
          <a:xfrm>
            <a:off x="868680" y="2468880"/>
            <a:ext cx="466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Time-based split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6"/>
          <p:cNvSpPr/>
          <p:nvPr/>
        </p:nvSpPr>
        <p:spPr>
          <a:xfrm>
            <a:off x="868680" y="280728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Train on rise, validate/test on recession — never shuffle across time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7"/>
          <p:cNvSpPr/>
          <p:nvPr/>
        </p:nvSpPr>
        <p:spPr>
          <a:xfrm>
            <a:off x="640080" y="3420000"/>
            <a:ext cx="5120280" cy="868320"/>
          </a:xfrm>
          <a:prstGeom prst="roundRect">
            <a:avLst>
              <a:gd name="adj" fmla="val 8421"/>
            </a:avLst>
          </a:prstGeom>
          <a:solidFill>
            <a:srgbClr val="F7FA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8"/>
          <p:cNvSpPr/>
          <p:nvPr/>
        </p:nvSpPr>
        <p:spPr>
          <a:xfrm>
            <a:off x="868680" y="3493080"/>
            <a:ext cx="466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Adam optimizer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9"/>
          <p:cNvSpPr/>
          <p:nvPr/>
        </p:nvSpPr>
        <p:spPr>
          <a:xfrm>
            <a:off x="868680" y="383148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lr = 1e-3, weight decay = 1e-5, 60 epochs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0"/>
          <p:cNvSpPr/>
          <p:nvPr/>
        </p:nvSpPr>
        <p:spPr>
          <a:xfrm>
            <a:off x="640080" y="4443840"/>
            <a:ext cx="5120280" cy="868320"/>
          </a:xfrm>
          <a:prstGeom prst="roundRect">
            <a:avLst>
              <a:gd name="adj" fmla="val 8421"/>
            </a:avLst>
          </a:prstGeom>
          <a:solidFill>
            <a:srgbClr val="F7FAF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1"/>
          <p:cNvSpPr/>
          <p:nvPr/>
        </p:nvSpPr>
        <p:spPr>
          <a:xfrm>
            <a:off x="868680" y="4517280"/>
            <a:ext cx="466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065A82"/>
                </a:solidFill>
                <a:effectLst/>
                <a:uFillTx/>
                <a:latin typeface="Calibri"/>
                <a:ea typeface="Calibri"/>
              </a:rPr>
              <a:t>Checkpoint bundling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2"/>
          <p:cNvSpPr/>
          <p:nvPr/>
        </p:nvSpPr>
        <p:spPr>
          <a:xfrm>
            <a:off x="868680" y="4855320"/>
            <a:ext cx="46630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Model weights + config + normalizer saved together — no refitting needed downstream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" name="Image 0" descr="images/training_curves.png"/>
          <p:cNvPicPr/>
          <p:nvPr/>
        </p:nvPicPr>
        <p:blipFill>
          <a:blip r:embed="rId1"/>
          <a:srcRect l="0" t="-10" r="0" b="-10"/>
          <a:stretch/>
        </p:blipFill>
        <p:spPr>
          <a:xfrm>
            <a:off x="6035040" y="1371600"/>
            <a:ext cx="5486040" cy="3526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Text 13"/>
          <p:cNvSpPr/>
          <p:nvPr/>
        </p:nvSpPr>
        <p:spPr>
          <a:xfrm>
            <a:off x="6035040" y="507492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outputs/training_curves.png — train vs. val loss over 60 epochs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Text 0"/>
          <p:cNvSpPr/>
          <p:nvPr/>
        </p:nvSpPr>
        <p:spPr>
          <a:xfrm>
            <a:off x="640080" y="411480"/>
            <a:ext cx="73148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Results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4" name="Table 0"/>
          <p:cNvGraphicFramePr/>
          <p:nvPr/>
        </p:nvGraphicFramePr>
        <p:xfrm>
          <a:off x="640080" y="1371600"/>
          <a:ext cx="5120280" cy="237708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371600"/>
              </a:tblGrid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Zone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E2EAEC"/>
                      </a:solidFill>
                      <a:prstDash val="solid"/>
                    </a:lnL>
                    <a:lnR w="9360">
                      <a:solidFill>
                        <a:srgbClr val="E2EAEC"/>
                      </a:solidFill>
                      <a:prstDash val="solid"/>
                    </a:lnR>
                    <a:lnT w="9360">
                      <a:solidFill>
                        <a:srgbClr val="E2EAEC"/>
                      </a:solidFill>
                      <a:prstDash val="solid"/>
                    </a:lnT>
                    <a:lnB w="9360">
                      <a:solidFill>
                        <a:srgbClr val="E2EAEC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RMSE (ft)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E2EAEC"/>
                      </a:solidFill>
                      <a:prstDash val="solid"/>
                    </a:lnL>
                    <a:lnR w="9360">
                      <a:solidFill>
                        <a:srgbClr val="E2EAEC"/>
                      </a:solidFill>
                      <a:prstDash val="solid"/>
                    </a:lnR>
                    <a:lnT w="9360">
                      <a:solidFill>
                        <a:srgbClr val="E2EAEC"/>
                      </a:solidFill>
                      <a:prstDash val="solid"/>
                    </a:lnT>
                    <a:lnB w="9360">
                      <a:solidFill>
                        <a:srgbClr val="E2EAEC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MAE (ft)</a:t>
                      </a:r>
                      <a:endParaRPr lang="en-US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E2EAEC"/>
                      </a:solidFill>
                      <a:prstDash val="solid"/>
                    </a:lnL>
                    <a:lnR w="9360">
                      <a:solidFill>
                        <a:srgbClr val="E2EAEC"/>
                      </a:solidFill>
                      <a:prstDash val="solid"/>
                    </a:lnR>
                    <a:lnT w="9360">
                      <a:solidFill>
                        <a:srgbClr val="E2EAEC"/>
                      </a:solidFill>
                      <a:prstDash val="solid"/>
                    </a:lnT>
                    <a:lnB w="9360">
                      <a:solidFill>
                        <a:srgbClr val="E2EAEC"/>
                      </a:solidFill>
                      <a:prstDash val="solid"/>
                    </a:lnB>
                    <a:solidFill>
                      <a:srgbClr val="065A82"/>
                    </a:solidFill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4556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Buffalo Bayou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E2EAEC"/>
                      </a:solidFill>
                      <a:prstDash val="solid"/>
                    </a:lnL>
                    <a:lnR w="9360">
                      <a:solidFill>
                        <a:srgbClr val="E2EAEC"/>
                      </a:solidFill>
                      <a:prstDash val="solid"/>
                    </a:lnR>
                    <a:lnT w="9360">
                      <a:solidFill>
                        <a:srgbClr val="E2EAEC"/>
                      </a:solidFill>
                      <a:prstDash val="solid"/>
                    </a:lnT>
                    <a:lnB w="9360">
                      <a:solidFill>
                        <a:srgbClr val="E2EA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4556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10.9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E2EAEC"/>
                      </a:solidFill>
                      <a:prstDash val="solid"/>
                    </a:lnL>
                    <a:lnR w="9360">
                      <a:solidFill>
                        <a:srgbClr val="E2EAEC"/>
                      </a:solidFill>
                      <a:prstDash val="solid"/>
                    </a:lnR>
                    <a:lnT w="9360">
                      <a:solidFill>
                        <a:srgbClr val="E2EAEC"/>
                      </a:solidFill>
                      <a:prstDash val="solid"/>
                    </a:lnT>
                    <a:lnB w="9360">
                      <a:solidFill>
                        <a:srgbClr val="E2EA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4556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10.6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E2EAEC"/>
                      </a:solidFill>
                      <a:prstDash val="solid"/>
                    </a:lnL>
                    <a:lnR w="9360">
                      <a:solidFill>
                        <a:srgbClr val="E2EAEC"/>
                      </a:solidFill>
                      <a:prstDash val="solid"/>
                    </a:lnR>
                    <a:lnT w="9360">
                      <a:solidFill>
                        <a:srgbClr val="E2EAEC"/>
                      </a:solidFill>
                      <a:prstDash val="solid"/>
                    </a:lnT>
                    <a:lnB w="9360">
                      <a:solidFill>
                        <a:srgbClr val="E2EAEC"/>
                      </a:solidFill>
                      <a:prstDash val="solid"/>
                    </a:lnB>
                    <a:noFill/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4556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Brays Bayou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E2EAEC"/>
                      </a:solidFill>
                      <a:prstDash val="solid"/>
                    </a:lnL>
                    <a:lnR w="9360">
                      <a:solidFill>
                        <a:srgbClr val="E2EAEC"/>
                      </a:solidFill>
                      <a:prstDash val="solid"/>
                    </a:lnR>
                    <a:lnT w="9360">
                      <a:solidFill>
                        <a:srgbClr val="E2EAEC"/>
                      </a:solidFill>
                      <a:prstDash val="solid"/>
                    </a:lnT>
                    <a:lnB w="9360">
                      <a:solidFill>
                        <a:srgbClr val="E2EA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4556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12.0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E2EAEC"/>
                      </a:solidFill>
                      <a:prstDash val="solid"/>
                    </a:lnL>
                    <a:lnR w="9360">
                      <a:solidFill>
                        <a:srgbClr val="E2EAEC"/>
                      </a:solidFill>
                      <a:prstDash val="solid"/>
                    </a:lnR>
                    <a:lnT w="9360">
                      <a:solidFill>
                        <a:srgbClr val="E2EAEC"/>
                      </a:solidFill>
                      <a:prstDash val="solid"/>
                    </a:lnT>
                    <a:lnB w="9360">
                      <a:solidFill>
                        <a:srgbClr val="E2EA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4556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11.7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E2EAEC"/>
                      </a:solidFill>
                      <a:prstDash val="solid"/>
                    </a:lnL>
                    <a:lnR w="9360">
                      <a:solidFill>
                        <a:srgbClr val="E2EAEC"/>
                      </a:solidFill>
                      <a:prstDash val="solid"/>
                    </a:lnR>
                    <a:lnT w="9360">
                      <a:solidFill>
                        <a:srgbClr val="E2EAEC"/>
                      </a:solidFill>
                      <a:prstDash val="solid"/>
                    </a:lnT>
                    <a:lnB w="9360">
                      <a:solidFill>
                        <a:srgbClr val="E2EAEC"/>
                      </a:solidFill>
                      <a:prstDash val="solid"/>
                    </a:lnB>
                    <a:noFill/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4556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Cypress Creek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E2EAEC"/>
                      </a:solidFill>
                      <a:prstDash val="solid"/>
                    </a:lnL>
                    <a:lnR w="9360">
                      <a:solidFill>
                        <a:srgbClr val="E2EAEC"/>
                      </a:solidFill>
                      <a:prstDash val="solid"/>
                    </a:lnR>
                    <a:lnT w="9360">
                      <a:solidFill>
                        <a:srgbClr val="E2EAEC"/>
                      </a:solidFill>
                      <a:prstDash val="solid"/>
                    </a:lnT>
                    <a:lnB w="9360">
                      <a:solidFill>
                        <a:srgbClr val="E2EA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4556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20.2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E2EAEC"/>
                      </a:solidFill>
                      <a:prstDash val="solid"/>
                    </a:lnL>
                    <a:lnR w="9360">
                      <a:solidFill>
                        <a:srgbClr val="E2EAEC"/>
                      </a:solidFill>
                      <a:prstDash val="solid"/>
                    </a:lnR>
                    <a:lnT w="9360">
                      <a:solidFill>
                        <a:srgbClr val="E2EAEC"/>
                      </a:solidFill>
                      <a:prstDash val="solid"/>
                    </a:lnT>
                    <a:lnB w="9360">
                      <a:solidFill>
                        <a:srgbClr val="E2EA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4556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19.4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E2EAEC"/>
                      </a:solidFill>
                      <a:prstDash val="solid"/>
                    </a:lnL>
                    <a:lnR w="9360">
                      <a:solidFill>
                        <a:srgbClr val="E2EAEC"/>
                      </a:solidFill>
                      <a:prstDash val="solid"/>
                    </a:lnR>
                    <a:lnT w="9360">
                      <a:solidFill>
                        <a:srgbClr val="E2EAEC"/>
                      </a:solidFill>
                      <a:prstDash val="solid"/>
                    </a:lnT>
                    <a:lnB w="9360">
                      <a:solidFill>
                        <a:srgbClr val="E2EAEC"/>
                      </a:solidFill>
                      <a:prstDash val="solid"/>
                    </a:lnB>
                    <a:noFill/>
                  </a:tcPr>
                </a:tc>
              </a:tr>
              <a:tr h="47520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4556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Addicks Reservoir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E2EAEC"/>
                      </a:solidFill>
                      <a:prstDash val="solid"/>
                    </a:lnL>
                    <a:lnR w="9360">
                      <a:solidFill>
                        <a:srgbClr val="E2EAEC"/>
                      </a:solidFill>
                      <a:prstDash val="solid"/>
                    </a:lnR>
                    <a:lnT w="9360">
                      <a:solidFill>
                        <a:srgbClr val="E2EAEC"/>
                      </a:solidFill>
                      <a:prstDash val="solid"/>
                    </a:lnT>
                    <a:lnB w="9360">
                      <a:solidFill>
                        <a:srgbClr val="E2EA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4556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13.9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E2EAEC"/>
                      </a:solidFill>
                      <a:prstDash val="solid"/>
                    </a:lnL>
                    <a:lnR w="9360">
                      <a:solidFill>
                        <a:srgbClr val="E2EAEC"/>
                      </a:solidFill>
                      <a:prstDash val="solid"/>
                    </a:lnR>
                    <a:lnT w="9360">
                      <a:solidFill>
                        <a:srgbClr val="E2EAEC"/>
                      </a:solidFill>
                      <a:prstDash val="solid"/>
                    </a:lnT>
                    <a:lnB w="9360">
                      <a:solidFill>
                        <a:srgbClr val="E2EAEC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0" u="none" strike="noStrike">
                          <a:solidFill>
                            <a:srgbClr val="445566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13.2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9360">
                      <a:solidFill>
                        <a:srgbClr val="E2EAEC"/>
                      </a:solidFill>
                      <a:prstDash val="solid"/>
                    </a:lnL>
                    <a:lnR w="9360">
                      <a:solidFill>
                        <a:srgbClr val="E2EAEC"/>
                      </a:solidFill>
                      <a:prstDash val="solid"/>
                    </a:lnR>
                    <a:lnT w="9360">
                      <a:solidFill>
                        <a:srgbClr val="E2EAEC"/>
                      </a:solidFill>
                      <a:prstDash val="solid"/>
                    </a:lnT>
                    <a:lnB w="9360">
                      <a:solidFill>
                        <a:srgbClr val="E2EAEC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5" name="Text 1"/>
          <p:cNvSpPr/>
          <p:nvPr/>
        </p:nvSpPr>
        <p:spPr>
          <a:xfrm>
            <a:off x="640080" y="3977640"/>
            <a:ext cx="512028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Model tracks the rise and peak well across all 4 zones. Cypress Creek has the highest error — its rainfall-driven response is the most volatile of the four. Addicks' slow, policy-driven recession is visibly under-predicted (see report).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6" name="Image 0" descr="images/hydrograph_brays_bayou.png"/>
          <p:cNvPicPr/>
          <p:nvPr/>
        </p:nvPicPr>
        <p:blipFill>
          <a:blip r:embed="rId1"/>
          <a:srcRect l="0" t="-39" r="0" b="-39"/>
          <a:stretch/>
        </p:blipFill>
        <p:spPr>
          <a:xfrm>
            <a:off x="6035040" y="1325880"/>
            <a:ext cx="5486040" cy="3483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Text 2"/>
          <p:cNvSpPr/>
          <p:nvPr/>
        </p:nvSpPr>
        <p:spPr>
          <a:xfrm>
            <a:off x="6035040" y="498348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outputs/hydrograph_brays_bayou.png — predicted (+1h) vs actual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Text 0"/>
          <p:cNvSpPr/>
          <p:nvPr/>
        </p:nvSpPr>
        <p:spPr>
          <a:xfrm>
            <a:off x="640080" y="41148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Demo: Same Storm, Different Zone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1"/>
          <p:cNvSpPr/>
          <p:nvPr/>
        </p:nvSpPr>
        <p:spPr>
          <a:xfrm>
            <a:off x="640080" y="1051560"/>
            <a:ext cx="107895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i="1" u="none" strike="noStrike">
                <a:solidFill>
                  <a:srgbClr val="1C7293"/>
                </a:solidFill>
                <a:effectLst/>
                <a:uFillTx/>
                <a:latin typeface="Calibri"/>
                <a:ea typeface="Calibri"/>
              </a:rPr>
              <a:t>Hold rainfall (0.4 in/hr) and wind (20 mph) fixed across all 4 zones — only the zone embedding changes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0" name="Chart 0"/>
          <p:cNvGraphicFramePr/>
          <p:nvPr/>
        </p:nvGraphicFramePr>
        <p:xfrm>
          <a:off x="640080" y="1600200"/>
          <a:ext cx="6674760" cy="4205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1" name="Shape 2"/>
          <p:cNvSpPr/>
          <p:nvPr/>
        </p:nvSpPr>
        <p:spPr>
          <a:xfrm>
            <a:off x="7635240" y="1645920"/>
            <a:ext cx="3885840" cy="868320"/>
          </a:xfrm>
          <a:prstGeom prst="roundRect">
            <a:avLst>
              <a:gd name="adj" fmla="val 8421"/>
            </a:avLst>
          </a:prstGeom>
          <a:solidFill>
            <a:srgbClr val="FBED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3"/>
          <p:cNvSpPr/>
          <p:nvPr/>
        </p:nvSpPr>
        <p:spPr>
          <a:xfrm>
            <a:off x="7818120" y="173736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Buffalo Bayou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4"/>
          <p:cNvSpPr/>
          <p:nvPr/>
        </p:nvSpPr>
        <p:spPr>
          <a:xfrm>
            <a:off x="7818120" y="210312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5651D"/>
                </a:solidFill>
                <a:effectLst/>
                <a:uFillTx/>
                <a:latin typeface="Calibri"/>
                <a:ea typeface="Calibri"/>
              </a:rPr>
              <a:t>⚠ exceeds flood stage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5"/>
          <p:cNvSpPr/>
          <p:nvPr/>
        </p:nvSpPr>
        <p:spPr>
          <a:xfrm>
            <a:off x="7635240" y="2670120"/>
            <a:ext cx="3885840" cy="868320"/>
          </a:xfrm>
          <a:prstGeom prst="roundRect">
            <a:avLst>
              <a:gd name="adj" fmla="val 8421"/>
            </a:avLst>
          </a:prstGeom>
          <a:solidFill>
            <a:srgbClr val="FBED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6"/>
          <p:cNvSpPr/>
          <p:nvPr/>
        </p:nvSpPr>
        <p:spPr>
          <a:xfrm>
            <a:off x="7818120" y="276156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Brays Bayou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7"/>
          <p:cNvSpPr/>
          <p:nvPr/>
        </p:nvSpPr>
        <p:spPr>
          <a:xfrm>
            <a:off x="7818120" y="312732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5651D"/>
                </a:solidFill>
                <a:effectLst/>
                <a:uFillTx/>
                <a:latin typeface="Calibri"/>
                <a:ea typeface="Calibri"/>
              </a:rPr>
              <a:t>⚠ exceeds flood stage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8"/>
          <p:cNvSpPr/>
          <p:nvPr/>
        </p:nvSpPr>
        <p:spPr>
          <a:xfrm>
            <a:off x="7635240" y="3694320"/>
            <a:ext cx="3885840" cy="868320"/>
          </a:xfrm>
          <a:prstGeom prst="roundRect">
            <a:avLst>
              <a:gd name="adj" fmla="val 8421"/>
            </a:avLst>
          </a:prstGeom>
          <a:solidFill>
            <a:srgbClr val="FBED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9"/>
          <p:cNvSpPr/>
          <p:nvPr/>
        </p:nvSpPr>
        <p:spPr>
          <a:xfrm>
            <a:off x="7818120" y="378576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Cypress Creek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0"/>
          <p:cNvSpPr/>
          <p:nvPr/>
        </p:nvSpPr>
        <p:spPr>
          <a:xfrm>
            <a:off x="7818120" y="415152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5651D"/>
                </a:solidFill>
                <a:effectLst/>
                <a:uFillTx/>
                <a:latin typeface="Calibri"/>
                <a:ea typeface="Calibri"/>
              </a:rPr>
              <a:t>⚠ exceeds flood stage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1"/>
          <p:cNvSpPr/>
          <p:nvPr/>
        </p:nvSpPr>
        <p:spPr>
          <a:xfrm>
            <a:off x="7635240" y="4718160"/>
            <a:ext cx="3885840" cy="868320"/>
          </a:xfrm>
          <a:prstGeom prst="roundRect">
            <a:avLst>
              <a:gd name="adj" fmla="val 8421"/>
            </a:avLst>
          </a:prstGeom>
          <a:solidFill>
            <a:srgbClr val="E4F2E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2"/>
          <p:cNvSpPr/>
          <p:nvPr/>
        </p:nvSpPr>
        <p:spPr>
          <a:xfrm>
            <a:off x="7818120" y="4809600"/>
            <a:ext cx="23770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Addicks Reservoir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3"/>
          <p:cNvSpPr/>
          <p:nvPr/>
        </p:nvSpPr>
        <p:spPr>
          <a:xfrm>
            <a:off x="7818120" y="5175360"/>
            <a:ext cx="35658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E7A52"/>
                </a:solidFill>
                <a:effectLst/>
                <a:uFillTx/>
                <a:latin typeface="Calibri"/>
                <a:ea typeface="Calibri"/>
              </a:rPr>
              <a:t>✓ stays below flood stage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Text 0"/>
          <p:cNvSpPr/>
          <p:nvPr/>
        </p:nvSpPr>
        <p:spPr>
          <a:xfrm>
            <a:off x="640080" y="41148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21295C"/>
                </a:solidFill>
                <a:effectLst/>
                <a:uFillTx/>
                <a:latin typeface="Cambria"/>
                <a:ea typeface="Cambria"/>
              </a:rPr>
              <a:t>Lessons Learned &amp; Limitations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"/>
          <p:cNvSpPr/>
          <p:nvPr/>
        </p:nvSpPr>
        <p:spPr>
          <a:xfrm>
            <a:off x="640080" y="1371600"/>
            <a:ext cx="594000" cy="5940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5" name="Image 0" descr="preencoded.png"/>
          <p:cNvPicPr/>
          <p:nvPr/>
        </p:nvPicPr>
        <p:blipFill>
          <a:blip r:embed="rId1"/>
          <a:stretch/>
        </p:blipFill>
        <p:spPr>
          <a:xfrm>
            <a:off x="773640" y="1505160"/>
            <a:ext cx="326520" cy="32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6" name="Text 2"/>
          <p:cNvSpPr/>
          <p:nvPr/>
        </p:nvSpPr>
        <p:spPr>
          <a:xfrm>
            <a:off x="1463040" y="1353240"/>
            <a:ext cx="9783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Single-event data is genuinely limiting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3"/>
          <p:cNvSpPr/>
          <p:nvPr/>
        </p:nvSpPr>
        <p:spPr>
          <a:xfrm>
            <a:off x="1463040" y="1700640"/>
            <a:ext cx="9783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With one storm, a zone's held-out window can contain zero flood crossings — pooling metrics across zones helps, but multi-storm training is the real fix.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4"/>
          <p:cNvSpPr/>
          <p:nvPr/>
        </p:nvSpPr>
        <p:spPr>
          <a:xfrm>
            <a:off x="640080" y="2514600"/>
            <a:ext cx="594000" cy="5940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9" name="Image 1" descr="preencoded.png"/>
          <p:cNvPicPr/>
          <p:nvPr/>
        </p:nvPicPr>
        <p:blipFill>
          <a:blip r:embed="rId2"/>
          <a:stretch/>
        </p:blipFill>
        <p:spPr>
          <a:xfrm>
            <a:off x="773640" y="2648160"/>
            <a:ext cx="326520" cy="32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Text 5"/>
          <p:cNvSpPr/>
          <p:nvPr/>
        </p:nvSpPr>
        <p:spPr>
          <a:xfrm>
            <a:off x="1463040" y="2496240"/>
            <a:ext cx="9783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Reservoirs aren't pure hydrology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6"/>
          <p:cNvSpPr/>
          <p:nvPr/>
        </p:nvSpPr>
        <p:spPr>
          <a:xfrm>
            <a:off x="1463040" y="2843640"/>
            <a:ext cx="9783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Addicks' release is an Army Corps policy decision, not just rainfall response — the model visibly under-predicts its slow recession.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7"/>
          <p:cNvSpPr/>
          <p:nvPr/>
        </p:nvSpPr>
        <p:spPr>
          <a:xfrm>
            <a:off x="640080" y="3657600"/>
            <a:ext cx="594000" cy="5940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3" name="Image 2" descr="preencoded.png"/>
          <p:cNvPicPr/>
          <p:nvPr/>
        </p:nvPicPr>
        <p:blipFill>
          <a:blip r:embed="rId3"/>
          <a:stretch/>
        </p:blipFill>
        <p:spPr>
          <a:xfrm>
            <a:off x="773640" y="3791160"/>
            <a:ext cx="326520" cy="32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4" name="Text 8"/>
          <p:cNvSpPr/>
          <p:nvPr/>
        </p:nvSpPr>
        <p:spPr>
          <a:xfrm>
            <a:off x="1463040" y="3639240"/>
            <a:ext cx="9783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Zone-conditioning punches above its weight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9"/>
          <p:cNvSpPr/>
          <p:nvPr/>
        </p:nvSpPr>
        <p:spPr>
          <a:xfrm>
            <a:off x="1463040" y="3986640"/>
            <a:ext cx="9783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One small shared LSTM + an 8-dim embedding captured 4 distinctly different watershed personalities from ~10 days of data each.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0"/>
          <p:cNvSpPr/>
          <p:nvPr/>
        </p:nvSpPr>
        <p:spPr>
          <a:xfrm>
            <a:off x="640080" y="4800600"/>
            <a:ext cx="594000" cy="5940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7" name="Image 3" descr="preencoded.png"/>
          <p:cNvPicPr/>
          <p:nvPr/>
        </p:nvPicPr>
        <p:blipFill>
          <a:blip r:embed="rId4"/>
          <a:stretch/>
        </p:blipFill>
        <p:spPr>
          <a:xfrm>
            <a:off x="773640" y="4934160"/>
            <a:ext cx="326520" cy="326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Text 11"/>
          <p:cNvSpPr/>
          <p:nvPr/>
        </p:nvSpPr>
        <p:spPr>
          <a:xfrm>
            <a:off x="1463040" y="4782240"/>
            <a:ext cx="97837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1295C"/>
                </a:solidFill>
                <a:effectLst/>
                <a:uFillTx/>
                <a:latin typeface="Calibri"/>
                <a:ea typeface="Calibri"/>
              </a:rPr>
              <a:t>Build for graceful degradation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2"/>
          <p:cNvSpPr/>
          <p:nvPr/>
        </p:nvSpPr>
        <p:spPr>
          <a:xfrm>
            <a:off x="1463040" y="5129640"/>
            <a:ext cx="97837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445566"/>
                </a:solidFill>
                <a:effectLst/>
                <a:uFillTx/>
                <a:latin typeface="Calibri"/>
                <a:ea typeface="Calibri"/>
              </a:rPr>
              <a:t>A synthetic-data fallback meant the whole pipeline stayed testable even when live USGS/NHC access wasn't available.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0"/>
          <p:cNvSpPr/>
          <p:nvPr/>
        </p:nvSpPr>
        <p:spPr>
          <a:xfrm>
            <a:off x="822960" y="640080"/>
            <a:ext cx="685440" cy="6854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1" name="Image 0" descr="preencoded.png"/>
          <p:cNvPicPr/>
          <p:nvPr/>
        </p:nvPicPr>
        <p:blipFill>
          <a:blip r:embed="rId1"/>
          <a:stretch/>
        </p:blipFill>
        <p:spPr>
          <a:xfrm>
            <a:off x="977400" y="794520"/>
            <a:ext cx="376920" cy="376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Text 1"/>
          <p:cNvSpPr/>
          <p:nvPr/>
        </p:nvSpPr>
        <p:spPr>
          <a:xfrm>
            <a:off x="640080" y="150876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mbria"/>
                <a:ea typeface="Cambria"/>
              </a:rPr>
              <a:t>Future Work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2"/>
          <p:cNvSpPr/>
          <p:nvPr/>
        </p:nvSpPr>
        <p:spPr>
          <a:xfrm>
            <a:off x="685800" y="2450520"/>
            <a:ext cx="109440" cy="1094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"/>
          <p:cNvSpPr/>
          <p:nvPr/>
        </p:nvSpPr>
        <p:spPr>
          <a:xfrm>
            <a:off x="1005840" y="230436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CFE8EE"/>
                </a:solidFill>
                <a:effectLst/>
                <a:uFillTx/>
                <a:latin typeface="Calibri"/>
                <a:ea typeface="Calibri"/>
              </a:rPr>
              <a:t>Train across more storms (Imelda 2019, Beta 2020, Nicholas 2021) for cross-event generalization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4"/>
          <p:cNvSpPr/>
          <p:nvPr/>
        </p:nvSpPr>
        <p:spPr>
          <a:xfrm>
            <a:off x="685800" y="3044880"/>
            <a:ext cx="109440" cy="1094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1005840" y="289872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CFE8EE"/>
                </a:solidFill>
                <a:effectLst/>
                <a:uFillTx/>
                <a:latin typeface="Calibri"/>
                <a:ea typeface="Calibri"/>
              </a:rPr>
              <a:t>Per-zone wind via distance-weighted interpolation from the HURDAT2 track, not one county-wide series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6"/>
          <p:cNvSpPr/>
          <p:nvPr/>
        </p:nvSpPr>
        <p:spPr>
          <a:xfrm>
            <a:off x="685800" y="3639240"/>
            <a:ext cx="109440" cy="1094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1005840" y="349308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CFE8EE"/>
                </a:solidFill>
                <a:effectLst/>
                <a:uFillTx/>
                <a:latin typeface="Calibri"/>
                <a:ea typeface="Calibri"/>
              </a:rPr>
              <a:t>Spatial flood-extent mapping (Sentinel-1 SAR + DEM, U-Net) as a richer visual extension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8"/>
          <p:cNvSpPr/>
          <p:nvPr/>
        </p:nvSpPr>
        <p:spPr>
          <a:xfrm>
            <a:off x="685800" y="4233600"/>
            <a:ext cx="109440" cy="10944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32760" rIns="90000" bIns="327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1005840" y="4087440"/>
            <a:ext cx="10240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CFE8EE"/>
                </a:solidFill>
                <a:effectLst/>
                <a:uFillTx/>
                <a:latin typeface="Calibri"/>
                <a:ea typeface="Calibri"/>
              </a:rPr>
              <a:t>Leave-one-zone-out evaluation — train on 3 watersheds, test entirely on the 4th</a:t>
            </a:r>
            <a:endParaRPr lang="en-US" sz="14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0"/>
          <p:cNvSpPr/>
          <p:nvPr/>
        </p:nvSpPr>
        <p:spPr>
          <a:xfrm>
            <a:off x="640080" y="603504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7FA8BA"/>
                </a:solidFill>
                <a:effectLst/>
                <a:uFillTx/>
                <a:latin typeface="Calibri"/>
                <a:ea typeface="Calibri"/>
              </a:rPr>
              <a:t>github.com/gjjohnson/harvey-flood-dl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LibreOffice/26.2.4.2$Linux_X86_64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2026-06-28T01:17:14Z</dcterms:created>
  <dc:creator>Jay</dc:creator>
  <dc:description/>
  <dc:language>en-US</dc:language>
  <cp:lastModifiedBy/>
  <dcterms:modified xsi:type="dcterms:W3CDTF">2026-06-27T18:35:32Z</dcterms:modified>
  <cp:revision>2</cp:revision>
  <dc:subject>PptxGenJS Presentation</dc:subject>
  <dc:title>Hurricane Harvey Flood Forecaster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